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57607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965960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0116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  <a:latin typeface="Arial"/>
              </a:defRPr>
            </a:pPr>
            <a:r>
              <a:t>SYNTHOS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8346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Arial"/>
              </a:defRPr>
            </a:pPr>
            <a:r>
              <a:t>自主进化学术科研平台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Arial"/>
              </a:defRPr>
            </a:pPr>
            <a:r>
              <a:t>打破信息爆炸下的科研效率瓶颈</a:t>
            </a:r>
            <a:br/>
            <a:r>
              <a:t>AI 工具与教学工具深度融合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Arial"/>
              </a:defRPr>
            </a:pPr>
            <a:r>
              <a:t>Synthos 架构：六维认知框架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411480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508760"/>
            <a:ext cx="45720" cy="100583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463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知识获取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38404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四大数据库并行检索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411480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508760"/>
            <a:ext cx="45720" cy="100583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Arial"/>
              </a:defRPr>
            </a:pPr>
            <a:r>
              <a:t>知识提取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38404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结构化知识图谱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017520"/>
            <a:ext cx="411480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3154679"/>
            <a:ext cx="45720" cy="100583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108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关联发现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74720"/>
            <a:ext cx="38404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识别矛盾/补充/演进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017520"/>
            <a:ext cx="411480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154679"/>
            <a:ext cx="45720" cy="100583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观点生成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74720"/>
            <a:ext cx="38404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研究假设 CRISP-DM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663440"/>
            <a:ext cx="411480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4800600"/>
            <a:ext cx="45720" cy="1005839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75487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Arial"/>
              </a:defRPr>
            </a:pPr>
            <a:r>
              <a:t>论证表达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120640"/>
            <a:ext cx="38404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TRIPOD+AI 报告生成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663440"/>
            <a:ext cx="411480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800600"/>
            <a:ext cx="45720" cy="100583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7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Arial"/>
              </a:defRPr>
            </a:pPr>
            <a:r>
              <a:t>观点验证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120640"/>
            <a:ext cx="38404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证伪主义偏误控制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rial"/>
              </a:defRPr>
            </a:pPr>
            <a:r>
              <a:t>核心演示 · 科研：知识获取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45720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PubMed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分钟级完成信息聚合</a:t>
            </a:r>
            <a:br/>
            <a:r>
              <a:t>获取文献 200+ 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7432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508760"/>
            <a:ext cx="45720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Arial"/>
              </a:defRPr>
            </a:pPr>
            <a:r>
              <a:t>Scholar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分钟级完成信息聚合</a:t>
            </a:r>
            <a:br/>
            <a:r>
              <a:t>获取文献 200+ 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7432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45720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Crossref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分钟级完成信息聚合</a:t>
            </a:r>
            <a:br/>
            <a:r>
              <a:t>获取文献 200+ 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371600"/>
            <a:ext cx="27432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508760"/>
            <a:ext cx="45720" cy="1554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Arial"/>
              </a:defRPr>
            </a:pPr>
            <a:r>
              <a:t>OpenAlex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828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分钟级完成信息聚合</a:t>
            </a:r>
            <a:br/>
            <a:r>
              <a:t>获取文献 200+ 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114800"/>
            <a:ext cx="85039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4251960"/>
            <a:ext cx="4572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效率对比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5720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传统手动检索：2-3 周</a:t>
            </a:r>
            <a:br/>
            <a:r>
              <a:t>Synthos 自动化检索：3-5 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rial"/>
              </a:defRPr>
            </a:pPr>
            <a:r>
              <a:t>核心演示 · 科研：关联与假设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7432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965960"/>
            <a:ext cx="45720" cy="2468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1. 关联图谱识别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3017520"/>
            <a:ext cx="4572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7432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965960"/>
            <a:ext cx="45720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2. 知识空白挖掘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52160" y="3017520"/>
            <a:ext cx="4572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7432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965960"/>
            <a:ext cx="45720" cy="2468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3. 研究假设生成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78240" y="3017520"/>
            <a:ext cx="4572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1828800"/>
            <a:ext cx="27432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965960"/>
            <a:ext cx="45720" cy="2468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Arial"/>
              </a:defRPr>
            </a:pPr>
            <a:r>
              <a:t>4. 置信度验证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rial"/>
              </a:defRPr>
            </a:pPr>
            <a:r>
              <a:t>核心演示 · 教学：AIGC 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45720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Arial"/>
              </a:defRPr>
            </a:pPr>
            <a:r>
              <a:t>学生提问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如何基于乳腺癌数据集构建可解释的 AI 诊断模型？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26080"/>
            <a:ext cx="22860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063240"/>
            <a:ext cx="4572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教学大纲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926080"/>
            <a:ext cx="22860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3063240"/>
            <a:ext cx="4572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医学数据集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926080"/>
            <a:ext cx="22860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3063240"/>
            <a:ext cx="4572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Python 基础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59" y="2926080"/>
            <a:ext cx="22860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5359" y="3063240"/>
            <a:ext cx="4572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39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学术论文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6B6D4"/>
                </a:solidFill>
                <a:latin typeface="Arial"/>
              </a:defRPr>
            </a:pPr>
            <a:r>
              <a:t>学习路径：数据准备 → 特征工程 → 模型构建 → 解释验证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rial"/>
              </a:defRPr>
            </a:pPr>
            <a:r>
              <a:t>CRISP-DM 与认知原子映射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rial"/>
              </a:defRPr>
            </a:pPr>
            <a:r>
              <a:t>业务理解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572000" y="1463040"/>
            <a:ext cx="91440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6B6D4"/>
                </a:solidFill>
                <a:latin typeface="Arial"/>
              </a:defRPr>
            </a:pPr>
            <a:r>
              <a:t>知识获取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rial"/>
              </a:defRPr>
            </a:pPr>
            <a:r>
              <a:t>数据理解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2468880"/>
            <a:ext cx="91440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6B6D4"/>
                </a:solidFill>
                <a:latin typeface="Arial"/>
              </a:defRPr>
            </a:pPr>
            <a:r>
              <a:t>知识提取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rial"/>
              </a:defRPr>
            </a:pPr>
            <a:r>
              <a:t>数据准备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72000" y="3474720"/>
            <a:ext cx="91440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6B6D4"/>
                </a:solidFill>
                <a:latin typeface="Arial"/>
              </a:defRPr>
            </a:pPr>
            <a:r>
              <a:t>关联发现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rial"/>
              </a:defRPr>
            </a:pPr>
            <a:r>
              <a:t>建模评估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72000" y="4480560"/>
            <a:ext cx="91440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6B6D4"/>
                </a:solidFill>
                <a:latin typeface="Arial"/>
              </a:defRPr>
            </a:pPr>
            <a:r>
              <a:t>观点生成/验证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rial"/>
              </a:defRPr>
            </a:pPr>
            <a:r>
              <a:t>结果部署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72000" y="5486400"/>
            <a:ext cx="91440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394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6B6D4"/>
                </a:solidFill>
                <a:latin typeface="Arial"/>
              </a:defRPr>
            </a:pPr>
            <a:r>
              <a:t>论证表达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rial"/>
              </a:defRPr>
            </a:pPr>
            <a:r>
              <a:t>自主进化引擎 &amp; 质量仪表盘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Arial"/>
              </a:defRPr>
            </a:pPr>
            <a:r>
              <a:t>知识获取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182880"/>
          </a:xfrm>
          <a:prstGeom prst="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1737360"/>
            <a:ext cx="5321808" cy="18288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0.97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Arial"/>
              </a:defRPr>
            </a:pPr>
            <a:r>
              <a:t>知识提取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834640"/>
            <a:ext cx="5486400" cy="182880"/>
          </a:xfrm>
          <a:prstGeom prst="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2834640"/>
            <a:ext cx="5266944" cy="1828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Arial"/>
              </a:defRPr>
            </a:pPr>
            <a:r>
              <a:t>0.96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Arial"/>
              </a:defRPr>
            </a:pPr>
            <a:r>
              <a:t>关联发现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931920"/>
            <a:ext cx="5486400" cy="182880"/>
          </a:xfrm>
          <a:prstGeom prst="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3931920"/>
            <a:ext cx="5376672" cy="182880"/>
          </a:xfrm>
          <a:prstGeom prst="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Arial"/>
              </a:defRPr>
            </a:pPr>
            <a:r>
              <a:t>0.98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Arial"/>
              </a:defRPr>
            </a:pPr>
            <a:r>
              <a:t>论证表达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5029199"/>
            <a:ext cx="5486400" cy="182880"/>
          </a:xfrm>
          <a:prstGeom prst="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5029199"/>
            <a:ext cx="5376672" cy="182880"/>
          </a:xfrm>
          <a:prstGeom prst="rect">
            <a:avLst/>
          </a:prstGeom>
          <a:solidFill>
            <a:srgbClr val="8B5C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49377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Arial"/>
              </a:defRPr>
            </a:pPr>
            <a:r>
              <a:t>0.98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rial"/>
              </a:defRPr>
            </a:pPr>
            <a:r>
              <a:t>应用成效：量化效率对比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3B82F6"/>
                </a:solidFill>
                <a:latin typeface="Arial"/>
              </a:defRPr>
            </a:pPr>
            <a:r>
              <a:t>6X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8FAFC"/>
                </a:solidFill>
                <a:latin typeface="Arial"/>
              </a:defRPr>
            </a:pPr>
            <a:r>
              <a:t>文献综述效率提升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10B981"/>
                </a:solidFill>
                <a:latin typeface="Arial"/>
              </a:defRPr>
            </a:pPr>
            <a:r>
              <a:t>85%+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8FAFC"/>
                </a:solidFill>
                <a:latin typeface="Arial"/>
              </a:defRPr>
            </a:pPr>
            <a:r>
              <a:t>自主学习覆盖率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8B5CF6"/>
                </a:solidFill>
                <a:latin typeface="Arial"/>
              </a:defRPr>
            </a:pPr>
            <a:r>
              <a:t>-40%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8FAFC"/>
                </a:solidFill>
                <a:latin typeface="Arial"/>
              </a:defRPr>
            </a:pPr>
            <a:r>
              <a:t>论文撰写周期缩短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rial"/>
              </a:defRPr>
            </a:pPr>
            <a:r>
              <a:t>核心创新点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1033272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17319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Arial"/>
              </a:defRPr>
            </a:pPr>
            <a:r>
              <a:t>创新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原创认知操作系统架构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033272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Arial"/>
              </a:defRPr>
            </a:pPr>
            <a:r>
              <a:t>创新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科研+教学双轮驱动体系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91840"/>
            <a:ext cx="1033272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42900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Arial"/>
              </a:defRPr>
            </a:pPr>
            <a:r>
              <a:t>创新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自主进化机制与质量保障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97680"/>
            <a:ext cx="1033272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43484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Arial"/>
              </a:defRPr>
            </a:pPr>
            <a:r>
              <a:t>创新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CRISP-DM 全流程精准映射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303520"/>
            <a:ext cx="1033272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44068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Arial"/>
              </a:defRPr>
            </a:pPr>
            <a:r>
              <a:t>创新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获奖成果全球共享教育生态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  <a:latin typeface="Arial"/>
              </a:defRPr>
            </a:pPr>
            <a:r>
              <a:t>SYNTHOS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8FAFC"/>
                </a:solidFill>
                <a:latin typeface="Arial"/>
              </a:defRPr>
            </a:pPr>
            <a:r>
              <a:t>打造公共认知操作系统，用于科学研究和医学教育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50292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Arial"/>
              </a:defRPr>
            </a:pPr>
            <a:r>
              <a:t>感谢您的观看！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